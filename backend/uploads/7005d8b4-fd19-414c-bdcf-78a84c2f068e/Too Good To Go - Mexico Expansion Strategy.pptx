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BA4237-981E-4E6D-87C4-082C35FCDCD0}">
  <a:tblStyle styleId="{38BA4237-981E-4E6D-87C4-082C35FCDCD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.fntdata"/><Relationship Id="rId10" Type="http://schemas.openxmlformats.org/officeDocument/2006/relationships/slide" Target="slides/slide4.xml"/><Relationship Id="rId32" Type="http://schemas.openxmlformats.org/officeDocument/2006/relationships/font" Target="fonts/DMSans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10" Type="http://schemas.openxmlformats.org/officeDocument/2006/relationships/image" Target="../media/image27.png"/><Relationship Id="rId9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10" Type="http://schemas.openxmlformats.org/officeDocument/2006/relationships/image" Target="../media/image56.png"/><Relationship Id="rId9" Type="http://schemas.openxmlformats.org/officeDocument/2006/relationships/image" Target="../media/image61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39.png"/><Relationship Id="rId13" Type="http://schemas.openxmlformats.org/officeDocument/2006/relationships/image" Target="../media/image41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Relationship Id="rId4" Type="http://schemas.openxmlformats.org/officeDocument/2006/relationships/image" Target="../media/image47.png"/><Relationship Id="rId9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59.png"/><Relationship Id="rId7" Type="http://schemas.openxmlformats.org/officeDocument/2006/relationships/image" Target="../media/image44.png"/><Relationship Id="rId8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48.png"/><Relationship Id="rId5" Type="http://schemas.openxmlformats.org/officeDocument/2006/relationships/image" Target="../media/image62.png"/><Relationship Id="rId6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49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53706"/>
            <a:ext cx="3429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57250" y="4796581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Fighting Food Waste Globally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485373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613594"/>
            <a:ext cx="10371296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Market Expansion: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Mexico Action Plan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3579316"/>
            <a:ext cx="68770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4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Authors: Yenam Dossou &amp; Ibnouali Anas | January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516409"/>
            <a:ext cx="2547937" cy="2322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2562" y="1516409"/>
            <a:ext cx="2547937" cy="2322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4029075"/>
            <a:ext cx="2547937" cy="2322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4029075"/>
            <a:ext cx="2547937" cy="232216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0061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Too Good To Go: A Global Impact Unicorn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78993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615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Founded in 2016 in Copenhagen, we are the world's leading food waste app.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359003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Status: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Unicorn valuation (&gt;€1 Billion)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00719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Financials: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€30M+ GMV annually, €100M+ raised (Series C/D)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442436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Mission: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Simple, scalable solutions to reduce food waste.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484152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Leadership: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CEO Søren Stephansen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273051" y="2497484"/>
            <a:ext cx="6700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20M+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12793" y="3097559"/>
            <a:ext cx="99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Active Users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856470" y="2497484"/>
            <a:ext cx="98012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40,000+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98818" y="3097559"/>
            <a:ext cx="14954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Partner Businesses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233046" y="5010150"/>
            <a:ext cx="7500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500k+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69931" y="5610225"/>
            <a:ext cx="1076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Tons Rescued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156507" y="5010150"/>
            <a:ext cx="38004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17+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689306" y="5610225"/>
            <a:ext cx="1314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Countries Active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908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624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434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6057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9968" y="185930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32218" y="185930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17593" y="4371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79843" y="437197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85900"/>
            <a:ext cx="11049000" cy="490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Why Mexico? High Impact Potential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1657350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Screening analysis against UAE and Ivory Coast highlights Mexico as the primary candidate due to disproportionately high household food waste and urban density.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599688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UNEP Food Waste Index 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-1428750" y="3524250"/>
            <a:ext cx="4762500" cy="4762500"/>
          </a:xfrm>
          <a:prstGeom prst="roundRect">
            <a:avLst>
              <a:gd fmla="val 50000" name="adj"/>
            </a:avLst>
          </a:prstGeom>
          <a:solidFill>
            <a:srgbClr val="0061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Focus Region: Greater Mexico City (CDMX)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1996529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Supply &amp; Demand Signals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4747170"/>
            <a:ext cx="5286375" cy="838200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4937670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 "Food inflation (3.0%) supports our value proposition: </a:t>
            </a:r>
            <a:r>
              <a:rPr b="1" i="1" lang="en-US" sz="135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Save food. Save money.</a:t>
            </a:r>
            <a:r>
              <a:rPr b="0" i="1" lang="en-US" sz="135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" 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4747170"/>
            <a:ext cx="76200" cy="838200"/>
          </a:xfrm>
          <a:prstGeom prst="rect">
            <a:avLst/>
          </a:prstGeom>
          <a:solidFill>
            <a:srgbClr val="0061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904875" y="2482304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Massive Scale: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Edo. de México (88,987 units) and CDMX (55,370 units) dominate the food landscape.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04875" y="3173759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Growth: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Eating places in CDMX growing to ~55k by 2025.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04875" y="359092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Tech Ready: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95.7% smartphone penetration (Q3 2024).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400809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Audience: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~17.4 Million potential app-ready adults in the metro area.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01354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280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099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2714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330" y="30794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0902"/>
            <a:ext cx="2430660" cy="2344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9010" y="30794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4180" y="3650902"/>
            <a:ext cx="2430660" cy="2619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1691" y="30794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6860" y="3650902"/>
            <a:ext cx="2430660" cy="23449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14371" y="30794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89541" y="3650902"/>
            <a:ext cx="2430660" cy="234493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Entry Strategy: Direct Expansion Model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1768822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We will execute a Direct Growth model to maintain full control over brand equity, operations, and data integrity. This ensures quality as we scale.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3269902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20759" y="385092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Pilot Phase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4355752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Location: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CDMX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480149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Establish the core engine, legal setup, and initial "anchor" partnerships.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593440" y="385092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644205" y="4355752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Unit Economics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644205" y="4801492"/>
            <a:ext cx="203061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Refine KPIs, user retention, and pickup operations before scaling.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66120" y="385092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Secondary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516885" y="4355752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Target: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Hubs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16885" y="480149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Expand to Guadalajara, Monterrey, Puebla, and Querétaro.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38801" y="385092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National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389566" y="4355752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Scale: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Full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389566" y="480149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Nationwide deployment once regional hubs are stabilized.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Winning the Market: Competitive Posture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8"/>
          <p:cNvGraphicFramePr/>
          <p:nvPr/>
        </p:nvGraphicFramePr>
        <p:xfrm>
          <a:off x="571500" y="15850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{38BA4237-981E-4E6D-87C4-082C35FCDCD0}</a:tableStyleId>
              </a:tblPr>
              <a:tblGrid>
                <a:gridCol w="1247775"/>
                <a:gridCol w="1873150"/>
                <a:gridCol w="2165450"/>
              </a:tblGrid>
              <a:tr h="9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Competitor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1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1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15F"/>
                    </a:solidFill>
                  </a:tcPr>
                </a:tc>
              </a:tr>
              <a:tr h="9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Cheaf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Direct Surprise Bag (Marketplace)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Strong. 1M+ users. Partners: Maison Kayser, Sanborns.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Kigüi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Cashback &amp; B2B (Expiry Tech)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Pivoting to B2B. Not a direct consumer substitute.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18"/>
          <p:cNvSpPr txBox="1"/>
          <p:nvPr/>
        </p:nvSpPr>
        <p:spPr>
          <a:xfrm>
            <a:off x="571500" y="4630935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Winning Strategy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904875" y="511671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Chain-First: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Enterprise Impact Dashboards for ESG reporting.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04875" y="5533876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"Surround":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Anchor supermarkets + local SMB clusters.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04875" y="595104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Ops Quality:</a:t>
            </a: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Tighter pickup windows &amp; WhatsApp support.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571500" y="3212752"/>
            <a:ext cx="1247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1819275" y="3212752"/>
            <a:ext cx="18731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692425" y="3212752"/>
            <a:ext cx="21654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71500" y="4330898"/>
            <a:ext cx="124777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819275" y="4330898"/>
            <a:ext cx="18731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692425" y="4330898"/>
            <a:ext cx="216544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3576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552926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970091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9334500" y="-95250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0061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Marketing: Localized &amp; Digital-First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88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334125" y="2185094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Tone: Friendly &amp; Optimistic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334125" y="268991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Aligning with local values of family and sharing. No guilt trips.</a:t>
            </a: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6334125" y="3249959"/>
            <a:ext cx="5286375" cy="781050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6477000" y="3392834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 "Salva comida. Salva dinero."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50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 "Comida buena, precio justo." 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6334125" y="3249959"/>
            <a:ext cx="76200" cy="781050"/>
          </a:xfrm>
          <a:prstGeom prst="rect">
            <a:avLst/>
          </a:prstGeom>
          <a:solidFill>
            <a:srgbClr val="FF9E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6334125" y="4316759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Channels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7550" y="489778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6767512" y="5316884"/>
            <a:ext cx="8001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Viral Content</a:t>
            </a:r>
            <a:endParaRPr/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8725" y="489778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8567737" y="5316884"/>
            <a:ext cx="819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Maps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87050" y="489778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10310812" y="5316884"/>
            <a:ext cx="95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Merch. Support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916685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3492549" cy="314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485900"/>
            <a:ext cx="3492549" cy="3145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485900"/>
            <a:ext cx="3492549" cy="314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Logistics &amp; Compliance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3" name="Google Shape;23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16685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1587609" y="2466975"/>
            <a:ext cx="14601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Pickup Only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66775" y="306705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Pure marketplace model. We do not handle food delivery. Consumers reserve via app and collect in-store.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4635817" y="2466975"/>
            <a:ext cx="292036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Compliance (NOM-051)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645074" y="3067050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Aligned with Mexican labeling regulations. Standardized onboarding dashboards for food safety guidelines.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749158" y="2466975"/>
            <a:ext cx="22502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Merchant Support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423374" y="3067050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Dedicated WhatsApp Business channel for operational coaching and SLA-based issue resolution.</a:t>
            </a:r>
            <a:endParaRPr/>
          </a:p>
        </p:txBody>
      </p:sp>
      <p:pic>
        <p:nvPicPr>
          <p:cNvPr descr="image.png" id="240" name="Google Shape;24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1012" y="18288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18288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83799" y="182880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535584"/>
            <a:ext cx="5286375" cy="2796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Investment: CDMX Launch Estimates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71500" y="168413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Estimated investment for a strong Year 1 launch in Mexico City. Based on operational data.</a:t>
            </a:r>
            <a:endParaRPr/>
          </a:p>
        </p:txBody>
      </p:sp>
      <p:graphicFrame>
        <p:nvGraphicFramePr>
          <p:cNvPr id="251" name="Google Shape;251;p21"/>
          <p:cNvGraphicFramePr/>
          <p:nvPr/>
        </p:nvGraphicFramePr>
        <p:xfrm>
          <a:off x="571500" y="24041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{38BA4237-981E-4E6D-87C4-082C35FCDCD0}</a:tableStyleId>
              </a:tblPr>
              <a:tblGrid>
                <a:gridCol w="2755850"/>
                <a:gridCol w="2530525"/>
              </a:tblGrid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1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Est. Cost (USD)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15F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Team (6 months)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$30,000 - $45,000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Marketing Launch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$15,000 - $25,000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Merchant Kits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~$3,000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Legal &amp; Accounting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$3,000 - $6,000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Contingency &amp; Misc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~$7,000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B556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615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$60,000 - $90,000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BF9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91562" y="283085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8102203" y="3592859"/>
            <a:ext cx="17502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Low CAPEX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629400" y="4316759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F0DF"/>
                </a:solidFill>
                <a:latin typeface="DM Sans"/>
                <a:ea typeface="DM Sans"/>
                <a:cs typeface="DM Sans"/>
                <a:sym typeface="DM Sans"/>
              </a:rPr>
              <a:t>High scalability driven by existing digital infrastructure and 95% smartphone adoption.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3483322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3327350" y="3483322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71500" y="4052887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327350" y="4052887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71500" y="4622452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327350" y="4622452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71500" y="5192017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327350" y="5192017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571500" y="5766345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327350" y="5766345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71500" y="6340673"/>
            <a:ext cx="27558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3327350" y="6340673"/>
            <a:ext cx="253052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85900"/>
            <a:ext cx="11049000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Year 1 Scenarios: Merchant Acquisition</a:t>
            </a:r>
            <a:endParaRPr/>
          </a:p>
        </p:txBody>
      </p:sp>
      <p:sp>
        <p:nvSpPr>
          <p:cNvPr id="273" name="Google Shape;273;p22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571500" y="198685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Projected onboarded merchants in CDMX based on DENUE May 2025 base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23332"/>
            <a:ext cx="2430660" cy="1899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180" y="3323332"/>
            <a:ext cx="2430660" cy="1899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6860" y="3323332"/>
            <a:ext cx="2430660" cy="2173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9541" y="3323332"/>
            <a:ext cx="2430660" cy="189919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/>
          <p:nvPr/>
        </p:nvSpPr>
        <p:spPr>
          <a:xfrm>
            <a:off x="-1428750" y="3524250"/>
            <a:ext cx="4762500" cy="4762500"/>
          </a:xfrm>
          <a:prstGeom prst="roundRect">
            <a:avLst>
              <a:gd fmla="val 50000" name="adj"/>
            </a:avLst>
          </a:prstGeom>
          <a:solidFill>
            <a:srgbClr val="0061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Execution Timeline (Year 1)</a:t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571500" y="2942332"/>
            <a:ext cx="11049000" cy="381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6330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9010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1691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14371" y="27518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10630" y="286613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720759" y="352335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 0-1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71525" y="402818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Legal setup, city team hiring, and pilot merchant LOIs (Letters of Intent).</a:t>
            </a:r>
            <a:endParaRPr/>
          </a:p>
        </p:txBody>
      </p:sp>
      <p:pic>
        <p:nvPicPr>
          <p:cNvPr descr="image.png" id="294" name="Google Shape;294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3785" y="286613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3593440" y="352335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 2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644205" y="402818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Merchant onboarding sprint. Campus &amp; street activation in CDMX.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55991" y="286613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6466120" y="352335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 3-4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516885" y="4028182"/>
            <a:ext cx="203061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PR Push. Supermarket &amp; Hotel chains activation. Optimize pickup windows.</a:t>
            </a:r>
            <a:endParaRPr/>
          </a:p>
        </p:txBody>
      </p:sp>
      <p:pic>
        <p:nvPicPr>
          <p:cNvPr descr="image.png" id="300" name="Google Shape;300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28671" y="286613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9338801" y="3523357"/>
            <a:ext cx="213214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 5-6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9389566" y="4028182"/>
            <a:ext cx="203061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Reach "Base Scenario". Prep Guadalajara &amp; Monterrey launch.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900" y="3022103"/>
            <a:ext cx="3124200" cy="1626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/>
          <p:nvPr/>
        </p:nvSpPr>
        <p:spPr>
          <a:xfrm>
            <a:off x="1545431" y="820191"/>
            <a:ext cx="910113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Let's Make Impact Together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2286000" y="190976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Mexico represents a high-potential market. With a direct expansion model and strong partnerships, we can establish TGTG as the leader.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5055870" y="3307853"/>
            <a:ext cx="20802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5105400" y="4088903"/>
            <a:ext cx="1981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www.toogoodtogo.com</a:t>
            </a:r>
            <a:endParaRPr/>
          </a:p>
        </p:txBody>
      </p:sp>
      <p:pic>
        <p:nvPicPr>
          <p:cNvPr descr="image.png" id="312" name="Google Shape;31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5" y="5125194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4552950" y="5591919"/>
            <a:ext cx="99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Environment</a:t>
            </a:r>
            <a:endParaRPr/>
          </a:p>
        </p:txBody>
      </p:sp>
      <p:pic>
        <p:nvPicPr>
          <p:cNvPr descr="image.png" id="314" name="Google Shape;31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4100" y="5125194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5924550" y="5591919"/>
            <a:ext cx="74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Economy</a:t>
            </a:r>
            <a:endParaRPr/>
          </a:p>
        </p:txBody>
      </p:sp>
      <p:pic>
        <p:nvPicPr>
          <p:cNvPr descr="image.png" id="316" name="Google Shape;31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2800" y="5125194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4"/>
          <p:cNvSpPr txBox="1"/>
          <p:nvPr/>
        </p:nvSpPr>
        <p:spPr>
          <a:xfrm>
            <a:off x="7048500" y="5591919"/>
            <a:ext cx="590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Society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615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23" name="Google Shape;323;p25"/>
          <p:cNvSpPr/>
          <p:nvPr/>
        </p:nvSpPr>
        <p:spPr>
          <a:xfrm>
            <a:off x="571500" y="1171575"/>
            <a:ext cx="11049000" cy="28575"/>
          </a:xfrm>
          <a:prstGeom prst="rect">
            <a:avLst/>
          </a:prstGeom>
          <a:solidFill>
            <a:srgbClr val="D4F0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71500" y="18776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71500" y="266238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571500" y="364524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571500" y="44300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71500" y="26528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1500" y="26528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71500" y="36357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71500" y="36357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44204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71500" y="44204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571500" y="5205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571500" y="5205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6" name="Google Shape;3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70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/>
        </p:nvSpPr>
        <p:spPr>
          <a:xfrm>
            <a:off x="1666875" y="20204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https://images.halfhalftravel.com/mexico/mexico-city/eat-like-a-local/DAN03413.jpg?width=1000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1666875" y="22662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www.halfhalftravel.com</a:t>
            </a:r>
            <a:endParaRPr/>
          </a:p>
        </p:txBody>
      </p:sp>
      <p:pic>
        <p:nvPicPr>
          <p:cNvPr descr="image.png" id="339" name="Google Shape;3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092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1666875" y="280526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https://static.vecteezy.com/system/resources/previews/057/690/677/non_2x/sustainable-business-concepts-a-partnership-making-handshake-to-deal-the-green-project-top-view-photo.jpg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1666875" y="32490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www.vecteezy.com</a:t>
            </a:r>
            <a:endParaRPr/>
          </a:p>
        </p:txBody>
      </p:sp>
      <p:pic>
        <p:nvPicPr>
          <p:cNvPr descr="image.png" id="342" name="Google Shape;3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46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1666875" y="378812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https://www.dish-works.com/wp-content/uploads/hand-phone-tiktok-hero.jpg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666875" y="40338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www.dish-works.com</a:t>
            </a:r>
            <a:endParaRPr/>
          </a:p>
        </p:txBody>
      </p:sp>
      <p:pic>
        <p:nvPicPr>
          <p:cNvPr descr="image.png" id="345" name="Google Shape;34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79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666875" y="45728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https://png.pngtree.com/png-vector/20251202/ourlarge/pngtree-brown-paper-grocery-bag-filled-with-fresh-fruits-vegetables-and-bread-png-image_18100857.webp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666875" y="48186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pngtree.com</a:t>
            </a:r>
            <a:endParaRPr/>
          </a:p>
        </p:txBody>
      </p:sp>
      <p:pic>
        <p:nvPicPr>
          <p:cNvPr descr="image.png" id="348" name="Google Shape;34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64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1666875" y="535766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https://lifehacker.com/imagery/reviews/01JP39GJA4NN9BR4CA8SPK9V8W/product-image.jpg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1666875" y="56033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lifehacker.com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